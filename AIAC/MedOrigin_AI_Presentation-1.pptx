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 Score</c:v>
                </c:pt>
              </c:strCache>
            </c:strRef>
          </c:tx>
          <c:spPr>
            <a:solidFill>
              <a:srgbClr val="0F376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37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3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Patient Safety</c:v>
                </c:pt>
                <c:pt idx="1">
                  <c:v>Supply Chain Integrity</c:v>
                </c:pt>
                <c:pt idx="2">
                  <c:v>Regulatory Compliance</c:v>
                </c:pt>
                <c:pt idx="3">
                  <c:v>Brand Protection</c:v>
                </c:pt>
                <c:pt idx="4">
                  <c:v>Cost Reduction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88</c:v>
                </c:pt>
                <c:pt idx="2">
                  <c:v>82</c:v>
                </c:pt>
                <c:pt idx="3">
                  <c:v>90</c:v>
                </c:pt>
                <c:pt idx="4">
                  <c:v>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33445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33445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2f71d85-8068-4a98-9153-b4f765a907cd}"/>
      </c:ext>
    </c:extLst>
  </c:chart>
  <c:spPr>
    <a:solidFill>
      <a:srgbClr val="F8FA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2A4A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645920" cy="1645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560320"/>
            <a:ext cx="1280160" cy="1280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36576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240"/>
                </a:solidFill>
              </a:rPr>
              <a:t>CS&amp;AI · UNIVERSITY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65760" y="914400"/>
            <a:ext cx="5577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MedOrigin AI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365760" y="210312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Micro-Texture-Based Pharmaceutical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C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Identification &amp; Authenticity Verification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65760" y="3063240"/>
            <a:ext cx="548640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24485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200" dirty="0">
                <a:solidFill>
                  <a:srgbClr val="90B8D8"/>
                </a:solidFill>
              </a:rPr>
              <a:t>  </a:t>
            </a:r>
            <a:r>
              <a:rPr lang="en-US" sz="1200" dirty="0">
                <a:solidFill>
                  <a:srgbClr val="90B8D8"/>
                </a:solidFill>
              </a:rPr>
              <a:t>Guide: Mr. Naresh Kumar Sripada  |  Asst. Professor, CS&amp;AI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3703320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dirty="0">
                <a:solidFill>
                  <a:srgbClr val="FFFFFF"/>
                </a:solidFill>
              </a:rPr>
              <a:t>  </a:t>
            </a:r>
            <a:r>
              <a:rPr lang="en-US" sz="1300" b="1" dirty="0">
                <a:solidFill>
                  <a:srgbClr val="FFFFFF"/>
                </a:solidFill>
              </a:rPr>
              <a:t>M. Akhila</a:t>
            </a:r>
            <a:r>
              <a:rPr lang="en-IN" altLang="en-US" sz="1300" b="1" dirty="0">
                <a:solidFill>
                  <a:srgbClr val="FFFFFF"/>
                </a:solidFill>
              </a:rPr>
              <a:t>(2303A52442)</a:t>
            </a:r>
            <a:endParaRPr lang="en-IN" altLang="en-US" sz="13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 K. Sri Priya</a:t>
            </a:r>
            <a:r>
              <a:rPr lang="en-IN" altLang="en-US" sz="1300" b="1" dirty="0">
                <a:solidFill>
                  <a:srgbClr val="FFFFFF"/>
                </a:solidFill>
              </a:rPr>
              <a:t>(2303A52334)</a:t>
            </a:r>
            <a:endParaRPr lang="en-IN" altLang="en-US" sz="13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IN" alt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</a:rPr>
              <a:t>D. Shruthi</a:t>
            </a:r>
            <a:r>
              <a:rPr lang="en-IN" altLang="en-US" sz="1300" b="1" dirty="0">
                <a:solidFill>
                  <a:srgbClr val="FFFFFF"/>
                </a:solidFill>
              </a:rPr>
              <a:t>(2303A52407)</a:t>
            </a:r>
            <a:endParaRPr lang="en-IN" altLang="en-US" sz="13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417320"/>
          </a:xfrm>
          <a:prstGeom prst="rect">
            <a:avLst/>
          </a:prstGeom>
          <a:solidFill>
            <a:srgbClr val="0F376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0F0"/>
                </a:solidFill>
              </a:rPr>
              <a:t>Counterfeit drugs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0F0"/>
                </a:solidFill>
              </a:rPr>
              <a:t>circulate globally/yr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51760" cy="1417320"/>
          </a:xfrm>
          <a:prstGeom prst="rect">
            <a:avLst/>
          </a:prstGeom>
          <a:solidFill>
            <a:srgbClr val="C628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144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46120" y="160020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0F0"/>
                </a:solidFill>
              </a:rPr>
              <a:t>Deaths linked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0F0"/>
                </a:solidFill>
              </a:rPr>
              <a:t>fake pharmaceuticals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868680"/>
            <a:ext cx="2651760" cy="1417320"/>
          </a:xfrm>
          <a:prstGeom prst="rect">
            <a:avLst/>
          </a:prstGeom>
          <a:solidFill>
            <a:srgbClr val="00838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9144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160020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0F0"/>
                </a:solidFill>
              </a:rPr>
              <a:t>Existing systems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0F0"/>
                </a:solidFill>
              </a:rPr>
              <a:t>factory-level source 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76E"/>
                </a:solidFill>
              </a:rPr>
              <a:t>What is MedOrigin AI?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MedOrigin AI</a:t>
            </a: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an AI-powered pharmaceutical authentication system that identifies the </a:t>
            </a:r>
            <a:r>
              <a:rPr lang="en-US" sz="1300" b="1" dirty="0">
                <a:solidFill>
                  <a:srgbClr val="0083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manufacturing origin</a:t>
            </a: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1300" b="1" dirty="0">
                <a:solidFill>
                  <a:srgbClr val="0083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authenticity</a:t>
            </a: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of drug products by analysing microscopic surface texture patterns formed involuntarily during production — patterns that cannot be replicated or faked.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40480"/>
            <a:ext cx="2011680" cy="438912"/>
          </a:xfrm>
          <a:prstGeom prst="rect">
            <a:avLst/>
          </a:prstGeom>
          <a:solidFill>
            <a:srgbClr val="E3EE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404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Non-Destructive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3840480"/>
            <a:ext cx="2011680" cy="438912"/>
          </a:xfrm>
          <a:prstGeom prst="rect">
            <a:avLst/>
          </a:prstGeom>
          <a:solidFill>
            <a:srgbClr val="E3EE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8404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Factory-Level Tracing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840480"/>
            <a:ext cx="2011680" cy="438912"/>
          </a:xfrm>
          <a:prstGeom prst="rect">
            <a:avLst/>
          </a:prstGeom>
          <a:solidFill>
            <a:srgbClr val="E3EE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8404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No Packaging Needed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3840480"/>
            <a:ext cx="2011680" cy="438912"/>
          </a:xfrm>
          <a:prstGeom prst="rect">
            <a:avLst/>
          </a:prstGeom>
          <a:solidFill>
            <a:srgbClr val="E3EE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8404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AI-Powered · Fast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76E"/>
                </a:solidFill>
              </a:rPr>
              <a:t>Micro-Texture Extraction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527048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Extract involuntary surface patterns from tablet/capsule images using multi-scale CNN.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05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005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</a:rPr>
              <a:t>Authenticity Verification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37560" y="1527048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Classify pharmaceutical products as Genuine, Suspicious, or Counterfeit with confidence scoring.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86868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005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Source Identification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63640" y="1527048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Identify the exact manufacturing factory using signature vector similarity matching.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175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Supply Chain Security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1480" y="3538728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Provide traceability infrastructure for regulators, manufacturers, and distributors.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0" y="288036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175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Scalable &amp; Non-Destructive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37560" y="3538728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Fast, label-free, imaging-based verification requiring no chemical testing.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175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017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Counterfeit Detection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63640" y="3538728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Detect unknown or suspicious products beyond known database entries via open-set recognition.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38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Stakeholders — For Whom Is This Built?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554480" cy="566928"/>
          </a:xfrm>
          <a:prstGeom prst="rect">
            <a:avLst/>
          </a:prstGeom>
          <a:solidFill>
            <a:srgbClr val="0F376E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87782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41732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76E"/>
                </a:solidFill>
              </a:rPr>
              <a:t>Hospitals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376E"/>
                </a:solidFill>
              </a:rPr>
              <a:t>Pharmacies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938528"/>
            <a:ext cx="1554480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938528"/>
            <a:ext cx="155448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455"/>
                </a:solidFill>
              </a:rPr>
              <a:t>Verify drug authenticity at point of dispensing.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93392" y="822960"/>
            <a:ext cx="1554480" cy="566928"/>
          </a:xfrm>
          <a:prstGeom prst="rect">
            <a:avLst/>
          </a:prstGeom>
          <a:solidFill>
            <a:srgbClr val="00838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877824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93392" y="141732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Pharma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Manufacturers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993392" y="1938528"/>
            <a:ext cx="1554480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93392" y="1938528"/>
            <a:ext cx="155448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455"/>
                </a:solidFill>
              </a:rPr>
              <a:t>Protect brand integrity and detect grey-market diversion.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58184" y="822960"/>
            <a:ext cx="1554480" cy="566928"/>
          </a:xfrm>
          <a:prstGeom prst="rect">
            <a:avLst/>
          </a:prstGeom>
          <a:solidFill>
            <a:srgbClr val="1565C0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877824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58184" y="141732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Regulatory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Bodies (CDSCO)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58184" y="1938528"/>
            <a:ext cx="1554480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758184" y="1938528"/>
            <a:ext cx="155448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455"/>
                </a:solidFill>
              </a:rPr>
              <a:t>Enforce compliance and audit manufacturing sources.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522976" y="822960"/>
            <a:ext cx="1554480" cy="566928"/>
          </a:xfrm>
          <a:prstGeom prst="rect">
            <a:avLst/>
          </a:prstGeom>
          <a:solidFill>
            <a:srgbClr val="E65100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877824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22976" y="141732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Forensic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Law Enforcement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522976" y="1938528"/>
            <a:ext cx="1554480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22976" y="1938528"/>
            <a:ext cx="155448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455"/>
                </a:solidFill>
              </a:rPr>
              <a:t>Investigate counterfeit drug seizures and trace origins.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287768" y="822960"/>
            <a:ext cx="1554480" cy="566928"/>
          </a:xfrm>
          <a:prstGeom prst="rect">
            <a:avLst/>
          </a:prstGeom>
          <a:solidFill>
            <a:srgbClr val="2E7D32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877824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87768" y="141732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General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Public / Patients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287768" y="1938528"/>
            <a:ext cx="1554480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287768" y="1938528"/>
            <a:ext cx="1554480" cy="13716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455"/>
                </a:solidFill>
              </a:rPr>
              <a:t>Ensure the medicine they consume is genuine and safe.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65760" y="35204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76E"/>
                </a:solidFill>
              </a:rPr>
              <a:t>Projected Impact</a:t>
            </a:r>
            <a:endParaRPr lang="en-US" sz="14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65760" y="3840480"/>
          <a:ext cx="841248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Languages, Tools &amp; Software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411480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6" name="Text 4"/>
          <p:cNvSpPr/>
          <p:nvPr/>
        </p:nvSpPr>
        <p:spPr>
          <a:xfrm>
            <a:off x="274320" y="82296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Programming Languages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9776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Python 3.10+  — Core AI/ML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JavaScript / React  — Frontend prototype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SQL  — Reference database queries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6052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160520" cy="411480"/>
          </a:xfrm>
          <a:prstGeom prst="rect">
            <a:avLst/>
          </a:prstGeom>
          <a:solidFill>
            <a:srgbClr val="00838F"/>
          </a:solidFill>
        </p:spPr>
      </p:sp>
      <p:sp>
        <p:nvSpPr>
          <p:cNvPr id="10" name="Text 8"/>
          <p:cNvSpPr/>
          <p:nvPr/>
        </p:nvSpPr>
        <p:spPr>
          <a:xfrm>
            <a:off x="4754880" y="82296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ML Frameworks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9776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TensorFlow / Keras  — CNN model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OpenCV  — Image preprocessing &amp; texture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scikit-learn  — Similarity metrics &amp;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6052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4160520" cy="41148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4" name="Text 12"/>
          <p:cNvSpPr/>
          <p:nvPr/>
        </p:nvSpPr>
        <p:spPr>
          <a:xfrm>
            <a:off x="274320" y="283464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Tools &amp; 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39776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Jupyter Notebook  — Experimentation &amp; prototyping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Google Colab  — GPU-accelerated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Git / GitHub  — Version control &amp; collaboration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60520" cy="1828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4160520" cy="4114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8" name="Text 16"/>
          <p:cNvSpPr/>
          <p:nvPr/>
        </p:nvSpPr>
        <p:spPr>
          <a:xfrm>
            <a:off x="4754880" y="283464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Tools Used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9776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Claude AI (Anthropic)  — Code generation &amp;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ChatGPT  — Documentation &amp; prompt engineering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</a:rPr>
              <a:t>Copilot  — IDE code completion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A5C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Prompts Used to Generate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61872"/>
          </a:xfrm>
          <a:prstGeom prst="rect">
            <a:avLst/>
          </a:prstGeom>
          <a:solidFill>
            <a:srgbClr val="132035"/>
          </a:solidFill>
          <a:ln w="10160">
            <a:solidFill>
              <a:srgbClr val="00BC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87782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CNN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225296"/>
            <a:ext cx="39776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0"/>
                </a:solidFill>
              </a:rPr>
              <a:t>"Build a multi-scale CNN in TensorFlow/Keras for micro-texture feature extraction from pharmaceutical tablet images. Use multiple convolutional blocks with varying kernel sizes."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822960"/>
            <a:ext cx="4160520" cy="1261872"/>
          </a:xfrm>
          <a:prstGeom prst="rect">
            <a:avLst/>
          </a:prstGeom>
          <a:solidFill>
            <a:srgbClr val="132035"/>
          </a:solidFill>
          <a:ln w="10160">
            <a:solidFill>
              <a:srgbClr val="00BCD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89611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8072" y="87782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00600" y="1225296"/>
            <a:ext cx="39776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0"/>
                </a:solidFill>
              </a:rPr>
              <a:t>"Write an OpenCV pipeline to preprocess tablet images: Gaussian blur for noise reduction, CLAHE for contrast enhancement, and normalization to [0,1]."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132035"/>
          </a:solidFill>
          <a:ln w="10160">
            <a:solidFill>
              <a:srgbClr val="00BCD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226771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Signature Enc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" y="2615184"/>
            <a:ext cx="39776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0"/>
                </a:solidFill>
              </a:rPr>
              <a:t>"Create a bottleneck encoder that compresses CNN feature maps into a 256-dimensional signature vector using fully connected layers with L2 normalization."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09160" y="2212848"/>
            <a:ext cx="4160520" cy="1261872"/>
          </a:xfrm>
          <a:prstGeom prst="rect">
            <a:avLst/>
          </a:prstGeom>
          <a:solidFill>
            <a:srgbClr val="132035"/>
          </a:solidFill>
          <a:ln w="10160">
            <a:solidFill>
              <a:srgbClr val="00BCD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28600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48072" y="226771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Similarity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00600" y="2615184"/>
            <a:ext cx="39776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0"/>
                </a:solidFill>
              </a:rPr>
              <a:t>"Implement a similarity matching engine using cosine similarity and Euclidean distance to compare a query signature vector against a database of manufacturing signatures."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74320" y="3602736"/>
            <a:ext cx="4160520" cy="1261872"/>
          </a:xfrm>
          <a:prstGeom prst="rect">
            <a:avLst/>
          </a:prstGeom>
          <a:solidFill>
            <a:srgbClr val="132035"/>
          </a:solidFill>
          <a:ln w="10160">
            <a:solidFill>
              <a:srgbClr val="00BCD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7588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" y="36576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API Backend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65760" y="4005072"/>
            <a:ext cx="39776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0"/>
                </a:solidFill>
              </a:rPr>
              <a:t>"Build a Flask REST API endpoint /verify that accepts an uploaded image, runs it through the CNN pipeline, and returns source label, authenticity class, and confidence score."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709160" y="3602736"/>
            <a:ext cx="4160520" cy="1261872"/>
          </a:xfrm>
          <a:prstGeom prst="rect">
            <a:avLst/>
          </a:prstGeom>
          <a:solidFill>
            <a:srgbClr val="132035"/>
          </a:solidFill>
          <a:ln w="10160">
            <a:solidFill>
              <a:srgbClr val="00BCD4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367588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48072" y="36576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Frontend UI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800600" y="4005072"/>
            <a:ext cx="39776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0"/>
                </a:solidFill>
              </a:rPr>
              <a:t>"Create a React web interface where users upload a drug tablet photo and see the authenticity result — Genuine / Suspicious / Counterfeit — with a confidence gauge."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Flowchart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1261872" cy="1417320"/>
          </a:xfrm>
          <a:prstGeom prst="rect">
            <a:avLst/>
          </a:prstGeom>
          <a:solidFill>
            <a:srgbClr val="0F376E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155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155448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" y="20116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High-res macro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imaging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536192" y="1714500"/>
            <a:ext cx="182880" cy="0"/>
          </a:xfrm>
          <a:prstGeom prst="line">
            <a:avLst/>
          </a:prstGeom>
          <a:noFill/>
          <a:ln w="19050">
            <a:solidFill>
              <a:srgbClr val="0F37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82496" y="1632204"/>
            <a:ext cx="54864" cy="164592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10" name="Shape 7"/>
          <p:cNvSpPr/>
          <p:nvPr/>
        </p:nvSpPr>
        <p:spPr>
          <a:xfrm>
            <a:off x="1719072" y="1005840"/>
            <a:ext cx="1261872" cy="1417320"/>
          </a:xfrm>
          <a:prstGeom prst="rect">
            <a:avLst/>
          </a:prstGeom>
          <a:solidFill>
            <a:srgbClr val="1565C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11556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19072" y="155448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19072" y="20116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Noise reduction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CLAHE, Normalize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999232" y="1714500"/>
            <a:ext cx="182880" cy="0"/>
          </a:xfrm>
          <a:prstGeom prst="line">
            <a:avLst/>
          </a:prstGeom>
          <a:noFill/>
          <a:ln w="19050">
            <a:solidFill>
              <a:srgbClr val="0F37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45536" y="1632204"/>
            <a:ext cx="54864" cy="164592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16" name="Shape 12"/>
          <p:cNvSpPr/>
          <p:nvPr/>
        </p:nvSpPr>
        <p:spPr>
          <a:xfrm>
            <a:off x="3182112" y="1005840"/>
            <a:ext cx="1261872" cy="1417320"/>
          </a:xfrm>
          <a:prstGeom prst="rect">
            <a:avLst/>
          </a:prstGeom>
          <a:solidFill>
            <a:srgbClr val="00838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11556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82112" y="155448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CNN 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182112" y="20116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Multi-scale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convolutions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462272" y="1714500"/>
            <a:ext cx="182880" cy="0"/>
          </a:xfrm>
          <a:prstGeom prst="line">
            <a:avLst/>
          </a:prstGeom>
          <a:noFill/>
          <a:ln w="19050">
            <a:solidFill>
              <a:srgbClr val="0F376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08576" y="1632204"/>
            <a:ext cx="54864" cy="164592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22" name="Shape 17"/>
          <p:cNvSpPr/>
          <p:nvPr/>
        </p:nvSpPr>
        <p:spPr>
          <a:xfrm>
            <a:off x="4645152" y="1005840"/>
            <a:ext cx="1261872" cy="1417320"/>
          </a:xfrm>
          <a:prstGeom prst="rect">
            <a:avLst/>
          </a:prstGeom>
          <a:solidFill>
            <a:srgbClr val="6A1B9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15568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45152" y="155448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645152" y="20116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256-D compact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vector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5925312" y="1714500"/>
            <a:ext cx="182880" cy="0"/>
          </a:xfrm>
          <a:prstGeom prst="line">
            <a:avLst/>
          </a:prstGeom>
          <a:noFill/>
          <a:ln w="19050">
            <a:solidFill>
              <a:srgbClr val="0F376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71616" y="1632204"/>
            <a:ext cx="54864" cy="164592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28" name="Shape 22"/>
          <p:cNvSpPr/>
          <p:nvPr/>
        </p:nvSpPr>
        <p:spPr>
          <a:xfrm>
            <a:off x="6108192" y="1005840"/>
            <a:ext cx="1261872" cy="1417320"/>
          </a:xfrm>
          <a:prstGeom prst="rect">
            <a:avLst/>
          </a:prstGeom>
          <a:solidFill>
            <a:srgbClr val="1565C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115568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08192" y="155448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Similarity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Matching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108192" y="20116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Cosine + Euclidean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vs database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7388352" y="1714500"/>
            <a:ext cx="182880" cy="0"/>
          </a:xfrm>
          <a:prstGeom prst="line">
            <a:avLst/>
          </a:prstGeom>
          <a:noFill/>
          <a:ln w="19050">
            <a:solidFill>
              <a:srgbClr val="0F376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534656" y="1632204"/>
            <a:ext cx="54864" cy="164592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34" name="Shape 27"/>
          <p:cNvSpPr/>
          <p:nvPr/>
        </p:nvSpPr>
        <p:spPr>
          <a:xfrm>
            <a:off x="7571232" y="1005840"/>
            <a:ext cx="1261872" cy="1417320"/>
          </a:xfrm>
          <a:prstGeom prst="rect">
            <a:avLst/>
          </a:prstGeom>
          <a:solidFill>
            <a:srgbClr val="2E7D3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115568"/>
            <a:ext cx="402336" cy="40233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571232" y="155448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571232" y="20116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Source ID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CE0FF"/>
                </a:solidFill>
              </a:rPr>
              <a:t>Authenticity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274320" y="257860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76E"/>
                </a:solidFill>
              </a:rPr>
              <a:t>Similarity Score?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457200" y="2944368"/>
            <a:ext cx="2194560" cy="1097280"/>
          </a:xfrm>
          <a:prstGeom prst="rect">
            <a:avLst/>
          </a:prstGeom>
          <a:solidFill>
            <a:srgbClr val="2E7D3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457200" y="30175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GENUINE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457200" y="342900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Score ≥ 0.90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474720" y="2944368"/>
            <a:ext cx="2194560" cy="1097280"/>
          </a:xfrm>
          <a:prstGeom prst="rect">
            <a:avLst/>
          </a:prstGeom>
          <a:solidFill>
            <a:srgbClr val="E6510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3474720" y="30175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SUSPICIOUS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3474720" y="342900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0.60 – 0.89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492240" y="2944368"/>
            <a:ext cx="2194560" cy="1097280"/>
          </a:xfrm>
          <a:prstGeom prst="rect">
            <a:avLst/>
          </a:prstGeom>
          <a:solidFill>
            <a:srgbClr val="C628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6492240" y="30175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COUNTERFEIT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6492240" y="342900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</a:rPr>
              <a:t>Score &lt; 0.60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457200" y="40873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Action: Pass ✓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3474720" y="40873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Action: Manual Review ⚠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6492240" y="40873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Action: Quarantine ✗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38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 View — MedOrigin AI Web Application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12471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124712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7772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897890"/>
            <a:ext cx="7461250" cy="3587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33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62382" y="777240"/>
            <a:ext cx="2834640" cy="4114800"/>
          </a:xfrm>
          <a:prstGeom prst="rect">
            <a:avLst/>
          </a:prstGeom>
          <a:solidFill>
            <a:srgbClr val="0D1F2D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256032" y="777240"/>
            <a:ext cx="2834640" cy="320040"/>
          </a:xfrm>
          <a:prstGeom prst="rect">
            <a:avLst/>
          </a:prstGeom>
          <a:solidFill>
            <a:srgbClr val="0A3A5C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256032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Terminal — Claude AI</a:t>
            </a:r>
            <a:endParaRPr lang="en-US" sz="9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329184" y="1143000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</a:rPr>
              <a:t>&gt; Prompt: Build CNN feature extractor for micro-texture analysis</a:t>
            </a:r>
            <a:endParaRPr lang="en-US" sz="8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329184" y="1600200"/>
            <a:ext cx="2688336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 = Sequential([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Conv2D(64, (3,3), activation='relu'),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MaxPooling2D(2,2),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Conv2D(128, (5,5), activation='relu'),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GlobalAvgPooling2D(),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Dense(256, activation='relu')  # signature vector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8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3200400" y="777240"/>
            <a:ext cx="2834640" cy="4114800"/>
          </a:xfrm>
          <a:prstGeom prst="rect">
            <a:avLst/>
          </a:prstGeom>
          <a:solidFill>
            <a:srgbClr val="0D1F2D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200400" y="777240"/>
            <a:ext cx="2834640" cy="320040"/>
          </a:xfrm>
          <a:prstGeom prst="rect">
            <a:avLst/>
          </a:prstGeom>
          <a:solidFill>
            <a:srgbClr val="0A3A5C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20040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Terminal — Claude AI</a:t>
            </a:r>
            <a:endParaRPr lang="en-US" sz="9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3273552" y="1143000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</a:rPr>
              <a:t>&gt; Prompt: Create similarity matching with cosine distance</a:t>
            </a:r>
            <a:endParaRPr lang="en-US" sz="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3273552" y="1600200"/>
            <a:ext cx="2688336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match_signature(query_vec, db):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sims = cosine_similarity(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[query_vec], db['vectors']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)[0]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best = np.argmax(sims)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db['labels'][best], sims[best]</a:t>
            </a:r>
            <a:endParaRPr lang="en-US" sz="85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6144768" y="777240"/>
            <a:ext cx="2834640" cy="4114800"/>
          </a:xfrm>
          <a:prstGeom prst="rect">
            <a:avLst/>
          </a:prstGeom>
          <a:solidFill>
            <a:srgbClr val="0D1F2D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6144768" y="777240"/>
            <a:ext cx="2834640" cy="320040"/>
          </a:xfrm>
          <a:prstGeom prst="rect">
            <a:avLst/>
          </a:prstGeom>
          <a:solidFill>
            <a:srgbClr val="0A3A5C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6144768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Terminal — ChatGPT</a:t>
            </a:r>
            <a:endParaRPr lang="en-US" sz="9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6217920" y="1143000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</a:rPr>
              <a:t>&gt; Prompt: Build Flask API endpoint for image verification</a:t>
            </a:r>
            <a:endParaRPr lang="en-US" sz="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6217920" y="1600200"/>
            <a:ext cx="2688336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@app.route('/verify', methods=['POST'])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verify():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img = preprocess(request.files['image'])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sig = encoder.predict(img)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src, conf = match_signature(sig, DB)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cls = classify(conf)  # Genuine/Suspicious/..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jsonify({source:src, confidence:conf})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He, K., Zhang, X., Ren, S., &amp; Sun, J. (2016). Deep Residual Learning for Image Recognition. CVPR.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World Health Organization. (2023). Substandard and Falsified Medical Products. WHO Report.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Chen, T., &amp; Guestrin, C. (2016). XGBoost: A Scalable Tree Boosting System. KDD.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LeCun, Y., Bengio, Y., &amp; Hinton, G. (2015). Deep Learning. Nature, 521, 436–444.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CDSCO India. (2024). Guidelines for Pharmaceutical Product Authentication. Ministry of Health.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Daugman, J. (2004). How Iris Recognition Works. IEEE TCSVT — basis for texture biometrics.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Jain, A., Flynn, P., Ross, A. (2007). Handbook of Biometrics. Springer — texture fingerprinting.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Google Patents &amp; WIPO Database — Patent Search Report (2026), conducted by inventors.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[9] TensorFlow Documentation. https://www.tensorflow.org/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4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[10] OpenCV Documentation. https://docs.opencv.org/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F376E"/>
          </a:solidFill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</a:rPr>
              <a:t>MedOrigin AI  ·  SR University, Warangal  ·  CS&amp;AI Dept  ·  2026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2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3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4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5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6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7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8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9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10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11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12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13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14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ags/tag15.xml><?xml version="1.0" encoding="utf-8"?>
<p:tagLst xmlns:p="http://schemas.openxmlformats.org/presentationml/2006/main">
  <p:tag name="KSO_WM_DIAGRAM_VIRTUALLY_FRAME" val="{&quot;height&quot;:324,&quot;left&quot;:20.16,&quot;top&quot;:61.2,&quot;width&quot;:686.8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5804</Words>
  <Application>WPS Presentation</Application>
  <PresentationFormat>On-screen Show (16:9)</PresentationFormat>
  <Paragraphs>262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MedOrigin AI — Project Presentation</dc:title>
  <dc:creator>SR University CS&amp;AI</dc:creator>
  <dc:subject>PptxGenJS Presentation</dc:subject>
  <cp:lastModifiedBy>Myaka akhila</cp:lastModifiedBy>
  <cp:revision>5</cp:revision>
  <dcterms:created xsi:type="dcterms:W3CDTF">2026-04-17T04:06:00Z</dcterms:created>
  <dcterms:modified xsi:type="dcterms:W3CDTF">2026-04-17T05:53:26Z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F681D8493594467A93BF130E0F34CA0A_12</vt:lpwstr>
  </property>
  <property fmtid="{D5CDD505-2E9C-101B-9397-08002B2CF9AE}" pid="3" name="KSOProductBuildVer">
    <vt:lpwstr>2057-12.2.0.23201</vt:lpwstr>
  </property>
</Properties>
</file>